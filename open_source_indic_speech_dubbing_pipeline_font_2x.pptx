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510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This deck introduces a local, open-source Hindi and English speech dubbing prototype.
Important technical details: The implemented pipeline is ASR → translation or identity pass-through → TTS → evaluation → API/CLI/UI. It avoids paid APIs and keeps stub adapters as a safe baseline.
Interview-ready talking point: A dubbing system is not one model; it is an end-to-end ML product pipeline.
Limitation or tradeoff: The project does not claim real-time streaming, voice cloning, speaker preservation, or lip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Multilingual dubbing makes audio and video content accessible to people who do not speak the original language.
Important technical details: Indic languages add technical difficulty because data, scripts, pronunciation, dialects and code-mixed speech vary widely.
Interview-ready talking point: A good product must optimize meaning, timing and audio quality together.
Limitation or tradeoff: This prototype focuses on baseline local dubbing, not full media-grade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project objective is to build an understandable working baseline, not a polished commercial dubbing product.
Important technical details: The system supports a stub baseline, optional ASR, optional translation, local TTS, WER/CER metrics, API, CLI, UI, tests and Docker.
Interview-ready talking point: This shows engineering maturity: first make the system run, then make each model layer stronger.
Limitation or tradeoff: Optional models may require downloads, memory, Hugging Face authentication, or native binaries.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architecture splits the pipeline into clean adapters so each model backend can be swapped.
Important technical details: The same request schema can run through stub, open-source ASR, IndicTrans2, eSpeak, or future Piper.
Interview-ready talking point: Adapter isolation is how we make the prototype both runnable and extensible.
Limitation or tradeoff: The diagram is a product architecture; it does not imply all branches are equally mature.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Before any AI model runs, inputs must be validated and audio metadata must be understood.
Important technical details: The project exposes audio preprocessing as a boundary and constructs FFmpeg commands safely instead of running hidden conversions automatically.
Interview-ready talking point: Audio preprocessing is where signal processing enters the ML system.
Limitation or tradeoff: The current project does not implement full production VAD, denoising, or chunked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ASR turns audio into timed text segments.
Important technical details: The model operates over frames or learned features and produces token sequences. Streaming ASR trades context for latency.
Interview-ready talking point: For interviews, explain that good ASR is not only model choice; it is preprocessing, language choice, segmentation and evaluation.
Limitation or tradeoff: The prototype supports optional local ASR but does not claim continuous streaming ASR.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ASR implementation is intentionally layered: stub first, faster-whisper next, Whisper fallback if needed.
Important technical details: Models are imported lazily and downloaded/cached only when selected. Tiny CPU int8 is the first practical choice.
Interview-ready talking point: The design proves we can run local ASR without making it a hard dependency for the whole project.
Limitation or tradeoff: ASR accuracy depends on the selected model, audio quality and language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Machine translation should preserve meaning, not just replace words one by one.
Important technical details: Transformer translation uses tokenization, encoder context, attention and autoregressive decoding. Language tags are part of the contract.
Interview-ready talking point: Romanized Hindi and Devanagari Hindi are different input regimes.
Limitation or tradeoff: This project focuses Hindi/Indic-to-English; broader language coverage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IndicTrans2 provides the real Hindi-to-English translation path in the project.
Important technical details: The project required compatibility work around Hugging Face authentication, Transformers versions, tokenizer compatibility and Windows native build tooling.
Interview-ready talking point: A useful engineer documents dependency failures and makes a robust fallback path.
Limitation or tradeoff: Model access, memory, preprocessing coverage and commercial license review remain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project intentionally has three translation modes so development remains stable and real translation can be enabled when available.
Important technical details: Identity mode is important for Hindi-to-Hindi TTS. Stub mode is for deterministic tests. IndicTrans2 provides real Hindi-to-English translation.
Interview-ready talking point: Guardrails around input language prevent silent failures.
Limitation or tradeoff: IndicTrans2 currently targets Hindi/Indic-to-English in this project, not universal many-to-many translation.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TTS converts text into speech by estimating pronunciation, timing, acoustic features and waveform samples.
Important technical details: Formant synthesis such as eSpeak is light and reliable but robotic. Neural TTS can be much better but needs model voices and more resources.
Interview-ready talking point: TTS quality is more about the voice model and text normalization than CPU speed alone.
Limitation or tradeoff: The current working backend is not natural human-quality 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TTS layer provides local speech output and keeps the project free from paid APIs.
Important technical details: eSpeak-NG runs locally and is called safely through subprocess. Hindi required transliteration to ITRANS for the Windows voice path.
Interview-ready talking point: A practical engineer keeps the semantic representation and synthesizer representation separate.
Limitation or tradeoff: eSpeak is functional but not natural. Piper or another neural TTS voice is a future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UI and API make the pipeline usable by a browser, CLI, or API client.
Important technical details: The endpoint set includes health, backend discovery, evaluation, text jobs, upload jobs, audio retrieval and the local UI. HTTP 206 is normal for browser audio seeking/range requests.
Interview-ready talking point: API design is how a model becomes an application.
Limitation or tradeoff: The visual shown is a screenshot-style mockup; replace with actual local /live and Swagger screenshots in a final evidence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CLI makes the project runnable outside the browser and easy to demonstrate in interviews.
Important technical details: Configuration flags choose ASR, translation, TTS, device, model size and compute type. The Windows workflow avoids PowerShell execution-policy issues.
Interview-ready talking point: A good ML system is scriptable, not only clickable.
Limitation or tradeoff: The command assumes optional dependencies and models are already installed/authenticated when using real backends.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failure log is a strength because it shows realistic engineering debugging.
Important technical details: The project encountered shell policy, authentication, version compatibility, native build tooling, validation, synthesis and encoding issues.
Interview-ready talking point: Interview point: model integration is often dependency engineering and platform debugging.
Limitation or tradeoff: Some fixes are pragmatic for Windows; Linux production deployment may use different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prototype emphasizes reliable engineering practices rather than only model demos.
Important technical details: Abstract adapters, typed schemas, deterministic stubs, path validation, safe subprocess calls and Docker stub mode reduce fragility.
Interview-ready talking point: A recruiter or interviewer should see that the project can be maintained and extended.
Limitation or tradeoff: The project is not production-hardened for security, scale, authentication or job queues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limitation slide protects credibility by clearly saying what the project does not claim.
Important technical details: It does not include voice cloning, speaker preservation, lip sync, diarization, production auth, queues, or continuous streaming.
Interview-ready talking point: Being explicit about limitations is a sign of senior engineering judgment.
Limitation or tradeoff: The baseline works but needs quality, scale and production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roadmap shows how to move from a working baseline toward a production-grade dubbing platform.
Important technical details: The next major steps are better TTS, model caching, edge optimization, streaming VAD/ASR/TTS, richer evaluation and production infrastructure.
Interview-ready talking point: The roadmap aligns the project to speech, backend, MLOps, edge and deployment roles.
Limitation or tradeoff: Each roadmap step needs measurable acceptance criteria before it should be claimed as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explanation: The conclusion connects the technical implementation to role readiness.
Important technical details: The project demonstrates integration across ASR, translation, TTS, metrics, API, CLI, UI, local inference, testing and deployment. Resources to review include AI4Bharat IndicTrans2, Hugging Face model cards, faster-whisper/CTranslate2, OpenAI Whisper open-source repo, Hugging Face Transformers and Hub, PyTorch, SentencePiece, Indic NLP Library, IndicTransToolkit, eSpeak-NG, Piper, FastAPI, Pydantic, Uvicorn, pytest, Docker, FFmpeg, ONNX Runtime and OpenVINO. Licenses and individual model/voice terms must be reviewed before commercial distribution. This deck does not imply affiliation with AI4Bharat, Hugging Face, OpenAI, Sarvam or any other organization.
Interview-ready talking point: This is a strong portfolio story because it demonstrates how models become a usable local product.
Limitation or tradeoff: The baseline is not a commercial dubbing system yet; it is a credible open-source engineering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777240"/>
            <a:ext cx="3566160" cy="109728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7955280" y="5440680"/>
            <a:ext cx="3566160" cy="109728"/>
          </a:xfrm>
          <a:prstGeom prst="rect">
            <a:avLst/>
          </a:prstGeom>
          <a:solidFill>
            <a:srgbClr val="FB923C">
              <a:alpha val="90000"/>
            </a:srgbClr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603504" y="1051560"/>
            <a:ext cx="7040880" cy="13258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  <a:defRPr/>
            </a:pPr>
            <a:r>
              <a:rPr lang="en-US" sz="4400" b="1" dirty="0">
                <a:solidFill>
                  <a:srgbClr val="F8FAFC"/>
                </a:solidFill>
              </a:rPr>
              <a:t>Building an Open-Source</a:t>
            </a:r>
            <a:endParaRPr lang="en-US" sz="4400" dirty="0"/>
          </a:p>
          <a:p>
            <a:pPr marL="0" indent="0">
              <a:buNone/>
              <a:defRPr/>
            </a:pPr>
            <a:r>
              <a:rPr lang="en-US" sz="4400" b="1" dirty="0">
                <a:solidFill>
                  <a:srgbClr val="F8FAFC"/>
                </a:solidFill>
              </a:rPr>
              <a:t>Indic Speech Dubbing Pipeline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03504" y="35433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 dirty="0">
                <a:solidFill>
                  <a:srgbClr val="22D3EE"/>
                </a:solidFill>
              </a:rPr>
              <a:t>Hindi/English • CPU-first • local inference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61134" y="4813584"/>
            <a:ext cx="128016" cy="184343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3046781" y="4813584"/>
            <a:ext cx="128016" cy="184343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4332427" y="4813584"/>
            <a:ext cx="128016" cy="184343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5618074" y="4813584"/>
            <a:ext cx="128016" cy="184343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1792" y="4576572"/>
            <a:ext cx="1121054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694944" y="4695444"/>
            <a:ext cx="97475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ASR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07438" y="4576572"/>
            <a:ext cx="1121054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1980590" y="4695444"/>
            <a:ext cx="97475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Translation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93085" y="4576572"/>
            <a:ext cx="1121054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66237" y="4695444"/>
            <a:ext cx="97475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78731" y="4576572"/>
            <a:ext cx="1121054" cy="658368"/>
          </a:xfrm>
          <a:prstGeom prst="roundRect">
            <a:avLst>
              <a:gd name="adj" fmla="val 11111"/>
            </a:avLst>
          </a:prstGeom>
          <a:solidFill>
            <a:srgbClr val="FB923C"/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51883" y="4695444"/>
            <a:ext cx="97475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Evaluation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4378" y="4576572"/>
            <a:ext cx="1121054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5837530" y="4695444"/>
            <a:ext cx="97475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API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18120" y="1993392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Text 19"/>
          <p:cNvSpPr/>
          <p:nvPr/>
        </p:nvSpPr>
        <p:spPr>
          <a:xfrm>
            <a:off x="7982712" y="2130552"/>
            <a:ext cx="30083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Prototype promise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19288" y="2468880"/>
            <a:ext cx="29352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No paid APIs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Stub mode always runs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Optional local models load only when selected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59893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736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Why Indic speech dubbing is a hard product 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03504" y="1188720"/>
            <a:ext cx="15910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8FAFC"/>
                </a:solidFill>
              </a:rPr>
              <a:t>Need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758952" y="164592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Speech dubbing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" y="1984248"/>
            <a:ext cx="2843784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Convert spoken content from one language into another spoken output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Preserve meaning while producing understandable speech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Support media, education, customer support and accessibility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69080" y="150876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33672" y="164592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Indic difficulty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70248" y="1984248"/>
            <a:ext cx="2843784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Low-resource language data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Dialect and accent diversity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Code-mixing with English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Script handling: Devanagari vs Romanized Hindi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79792" y="1426464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08392" y="164592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  <a:defRPr/>
            </a:pPr>
            <a:r>
              <a:rPr lang="en-US" sz="2000" b="1" dirty="0">
                <a:solidFill>
                  <a:srgbClr val="34D399"/>
                </a:solidFill>
              </a:rPr>
              <a:t>Product requirements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44968" y="1984248"/>
            <a:ext cx="2843784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Translation quality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Timing constraints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Pronunciation clarity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Low latency expectations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Robustness to noisy audio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Implemented goals across inputs, models, evaluation, API and deployment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3822" y="1481328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4848149" y="1481328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7002475" y="1481328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9156802" y="1481328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234440"/>
            <a:ext cx="1989734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58952" y="1353312"/>
            <a:ext cx="184343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Inputs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40126" y="1234440"/>
            <a:ext cx="1989734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13278" y="1353312"/>
            <a:ext cx="184343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Local 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94453" y="1234440"/>
            <a:ext cx="1989734" cy="685800"/>
          </a:xfrm>
          <a:prstGeom prst="roundRect">
            <a:avLst>
              <a:gd name="adj" fmla="val 10667"/>
            </a:avLst>
          </a:prstGeom>
          <a:solidFill>
            <a:srgbClr val="FB923C"/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67605" y="1353312"/>
            <a:ext cx="184343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Metrics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48779" y="1234440"/>
            <a:ext cx="1989734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21931" y="1353312"/>
            <a:ext cx="184343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Interfaces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303106" y="1234440"/>
            <a:ext cx="1989734" cy="685800"/>
          </a:xfrm>
          <a:prstGeom prst="roundRect">
            <a:avLst>
              <a:gd name="adj" fmla="val 10667"/>
            </a:avLst>
          </a:prstGeom>
          <a:solidFill>
            <a:srgbClr val="34D399"/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9376258" y="1353312"/>
            <a:ext cx="184343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Deployment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2240280"/>
            <a:ext cx="3030583" cy="496389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813816" y="2295144"/>
            <a:ext cx="2957431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b="1" dirty="0">
                <a:solidFill>
                  <a:srgbClr val="22D3EE"/>
                </a:solidFill>
              </a:rPr>
              <a:t>Objective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807823" y="2240280"/>
            <a:ext cx="7576457" cy="496389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3844399" y="2295144"/>
            <a:ext cx="7503305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b="1" dirty="0">
                <a:solidFill>
                  <a:srgbClr val="22D3EE"/>
                </a:solidFill>
              </a:rPr>
              <a:t>Implemented target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7240" y="2736669"/>
            <a:ext cx="3030583" cy="49638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813816" y="2782389"/>
            <a:ext cx="2957431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Inputs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807823" y="2736669"/>
            <a:ext cx="7576457" cy="49638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3844399" y="2782389"/>
            <a:ext cx="7503305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Text, audio-file, microphone capture boundary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77240" y="3233057"/>
            <a:ext cx="3030583" cy="49638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3816" y="3278777"/>
            <a:ext cx="2957431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Hindi → English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807823" y="3233057"/>
            <a:ext cx="7576457" cy="49638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3844399" y="3278777"/>
            <a:ext cx="7503305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IndicTrans2 adapter with local cached weights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77240" y="3729446"/>
            <a:ext cx="3030583" cy="49638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813816" y="3775166"/>
            <a:ext cx="2957431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Hindi → Hindi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807823" y="3729446"/>
            <a:ext cx="7576457" cy="49638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Text 34"/>
          <p:cNvSpPr/>
          <p:nvPr/>
        </p:nvSpPr>
        <p:spPr>
          <a:xfrm>
            <a:off x="3844399" y="3775166"/>
            <a:ext cx="7503305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Identity translation + local Hindi TTS path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77240" y="4225834"/>
            <a:ext cx="3030583" cy="49638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13816" y="4271554"/>
            <a:ext cx="2957431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Local ASR/TTS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807823" y="4225834"/>
            <a:ext cx="7576457" cy="49638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Text 38"/>
          <p:cNvSpPr/>
          <p:nvPr/>
        </p:nvSpPr>
        <p:spPr>
          <a:xfrm>
            <a:off x="3844399" y="4271554"/>
            <a:ext cx="7503305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faster-whisper/Whisper optional; eSpeak-NG working backend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777240" y="4722223"/>
            <a:ext cx="3030583" cy="49638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Text 40"/>
          <p:cNvSpPr/>
          <p:nvPr/>
        </p:nvSpPr>
        <p:spPr>
          <a:xfrm>
            <a:off x="813816" y="4767943"/>
            <a:ext cx="2957431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Engineering shell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807823" y="4722223"/>
            <a:ext cx="7576457" cy="49638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" name="Text 42"/>
          <p:cNvSpPr/>
          <p:nvPr/>
        </p:nvSpPr>
        <p:spPr>
          <a:xfrm>
            <a:off x="3844399" y="4767943"/>
            <a:ext cx="7503305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FastAPI, CLI, browser UI, tests, Docker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77240" y="5218611"/>
            <a:ext cx="3030583" cy="49638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" name="Text 44"/>
          <p:cNvSpPr/>
          <p:nvPr/>
        </p:nvSpPr>
        <p:spPr>
          <a:xfrm>
            <a:off x="813816" y="5264331"/>
            <a:ext cx="2957431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Safety baseline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3807823" y="5218611"/>
            <a:ext cx="7576457" cy="49638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" name="Text 46"/>
          <p:cNvSpPr/>
          <p:nvPr/>
        </p:nvSpPr>
        <p:spPr>
          <a:xfrm>
            <a:off x="3844399" y="5264331"/>
            <a:ext cx="7503305" cy="4232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Stub adapters keep the project runnable without heavy models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06"/>
    </mc:Choice>
    <mc:Fallback>
      <p:transition spd="slow" advTm="820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24180" y="21031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Adapter branches keep the same product shell while models change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25930" y="144548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3140964" y="144548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4555998" y="144548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71032" y="144548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86066" y="144548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801100" y="144548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216134" y="144548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0352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Browser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CLI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API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72234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1945386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Input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validation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87268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3360420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Audio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metadata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2302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Text 19"/>
          <p:cNvSpPr/>
          <p:nvPr/>
        </p:nvSpPr>
        <p:spPr>
          <a:xfrm>
            <a:off x="4775454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ASR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adapter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17336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FB923C"/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6190488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Translation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adapter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32370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34D399"/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7605522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TTS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adapter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947404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Text 25"/>
          <p:cNvSpPr/>
          <p:nvPr/>
        </p:nvSpPr>
        <p:spPr>
          <a:xfrm>
            <a:off x="9020556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Evaluation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+ latency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362438" y="1188720"/>
            <a:ext cx="1250442" cy="713232"/>
          </a:xfrm>
          <a:prstGeom prst="roundRect">
            <a:avLst>
              <a:gd name="adj" fmla="val 10256"/>
            </a:avLst>
          </a:prstGeom>
          <a:solidFill>
            <a:srgbClr val="A78BFA"/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435590" y="1307592"/>
            <a:ext cx="110413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Artifacts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" y="23317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Text 29"/>
          <p:cNvSpPr/>
          <p:nvPr/>
        </p:nvSpPr>
        <p:spPr>
          <a:xfrm>
            <a:off x="850392" y="2468880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563EB"/>
                </a:solidFill>
              </a:rPr>
              <a:t>ASR adapters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" y="2807208"/>
            <a:ext cx="27980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Stub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faster-whisper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Whisper fallback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233172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4507992" y="2386584"/>
            <a:ext cx="3183128" cy="301751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Translation adapters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44568" y="2807208"/>
            <a:ext cx="27980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Identity pass-through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Stub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IndicTrans2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01000" y="23317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Text 35"/>
          <p:cNvSpPr/>
          <p:nvPr/>
        </p:nvSpPr>
        <p:spPr>
          <a:xfrm>
            <a:off x="8165592" y="2468880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TTS adapters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02168" y="2807208"/>
            <a:ext cx="27980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Stub artifact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eSpeak-NG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Piper future/local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" y="4709160"/>
            <a:ext cx="9966960" cy="640080"/>
          </a:xfrm>
          <a:prstGeom prst="roundRect">
            <a:avLst>
              <a:gd name="adj" fmla="val 11429"/>
            </a:avLst>
          </a:prstGeom>
          <a:solidFill>
            <a:srgbClr val="0E1A2F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Text 38"/>
          <p:cNvSpPr/>
          <p:nvPr/>
        </p:nvSpPr>
        <p:spPr>
          <a:xfrm>
            <a:off x="1097280" y="4892040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F8FAFC"/>
                </a:solidFill>
              </a:rPr>
              <a:t>result.json + generated audio/artifacts + stage-level latency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8" y="13716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and audio stage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Boundaries for text, files, microphone and future preprocessing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1371600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Inputs accepted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709928"/>
            <a:ext cx="27980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Text input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Local audio-file upload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Browser MediaRecorder microphone capture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123444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325112" y="1161288"/>
            <a:ext cx="282549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Validated formats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61688" y="1709928"/>
            <a:ext cx="243230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WAV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MP3 / M4A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OGG / WebM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FLAC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123444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79792" y="1179576"/>
            <a:ext cx="33558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Metadata measured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6368" y="1709928"/>
            <a:ext cx="27980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Duration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Sample rate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Channels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Sample width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File size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E1A2F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987552" y="38221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rgbClr val="22D3EE"/>
                </a:solidFill>
              </a:rPr>
              <a:t>FFmpeg command construction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4187952"/>
            <a:ext cx="43891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</a:rPr>
              <a:t>Commands are built explicitly rather than executed implicitly.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338328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45352" y="3520440"/>
            <a:ext cx="37856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Production preprocessing roadmap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1928" y="4081780"/>
            <a:ext cx="3712464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mono conversion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16 kHz resampling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VAD + silence removal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SNR filtering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chunking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ASR fundamentals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How acoustic frames become text tokens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7246" y="149120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4774997" y="149120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6892747" y="149120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9010498" y="1491204"/>
            <a:ext cx="128016" cy="199705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85800" y="1234440"/>
            <a:ext cx="1953158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58952" y="1353312"/>
            <a:ext cx="1806854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Waveform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03550" y="1234440"/>
            <a:ext cx="1953158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2876702" y="1353312"/>
            <a:ext cx="1806854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Frames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features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21301" y="1234440"/>
            <a:ext cx="1953158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94453" y="1353312"/>
            <a:ext cx="1806854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Encoder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39051" y="1234440"/>
            <a:ext cx="1953158" cy="713232"/>
          </a:xfrm>
          <a:prstGeom prst="roundRect">
            <a:avLst>
              <a:gd name="adj" fmla="val 10256"/>
            </a:avLst>
          </a:prstGeom>
          <a:solidFill>
            <a:srgbClr val="FB923C"/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12203" y="1353312"/>
            <a:ext cx="1806854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Token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decoder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56802" y="1234440"/>
            <a:ext cx="1953158" cy="713232"/>
          </a:xfrm>
          <a:prstGeom prst="roundRect">
            <a:avLst>
              <a:gd name="adj" fmla="val 10256"/>
            </a:avLst>
          </a:prstGeom>
          <a:solidFill>
            <a:srgbClr val="34D399"/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9229954" y="1353312"/>
            <a:ext cx="1806854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Transcript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segments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3317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850392" y="2468880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Segment fields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2807208"/>
            <a:ext cx="261518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text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start time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end time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language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confidence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23317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4233671" y="2267712"/>
            <a:ext cx="3419857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Offline vs streaming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70248" y="2807207"/>
            <a:ext cx="2615184" cy="20116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Offline sees more context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Streaming has lower latency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Partial hypotheses can revise earlier 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52360" y="23317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7616952" y="2468880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Indic challenges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53528" y="2807208"/>
            <a:ext cx="261518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noise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accents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dialects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code-mixing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language selection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80160" y="4983480"/>
            <a:ext cx="9052560" cy="502920"/>
          </a:xfrm>
          <a:prstGeom prst="roundRect">
            <a:avLst>
              <a:gd name="adj" fmla="val 14545"/>
            </a:avLst>
          </a:prstGeom>
          <a:solidFill>
            <a:srgbClr val="0E1A2F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Text 29"/>
          <p:cNvSpPr/>
          <p:nvPr/>
        </p:nvSpPr>
        <p:spPr>
          <a:xfrm>
            <a:off x="1508760" y="51297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300" dirty="0">
                <a:solidFill>
                  <a:srgbClr val="F8FAFC"/>
                </a:solidFill>
              </a:rPr>
              <a:t>Language selection matters because the decoder and tokenizer expectations change.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016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ASR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10063480" cy="35890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Local ASR is optional; stub mode keeps the system runnable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2364927" cy="35433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722376" y="1335024"/>
            <a:ext cx="2291775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b="1" dirty="0">
                <a:solidFill>
                  <a:srgbClr val="22D3EE"/>
                </a:solidFill>
              </a:rPr>
              <a:t>Backend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050727" y="1280160"/>
            <a:ext cx="4729854" cy="35433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3087303" y="1335024"/>
            <a:ext cx="4656702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b="1" dirty="0">
                <a:solidFill>
                  <a:srgbClr val="22D3EE"/>
                </a:solidFill>
              </a:rPr>
              <a:t>Role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780581" y="1280160"/>
            <a:ext cx="3603699" cy="35433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17157" y="1335024"/>
            <a:ext cx="3530547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b="1" dirty="0">
                <a:solidFill>
                  <a:srgbClr val="22D3EE"/>
                </a:solidFill>
              </a:rPr>
              <a:t>Loading behavior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85800" y="1634490"/>
            <a:ext cx="2364927" cy="35433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722376" y="1680210"/>
            <a:ext cx="2291775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StubASRAdapter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050727" y="1634490"/>
            <a:ext cx="4729854" cy="35433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3087303" y="1680210"/>
            <a:ext cx="4656702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Deterministic pass-through of provided text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780581" y="1634490"/>
            <a:ext cx="3603699" cy="35433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7817157" y="1680210"/>
            <a:ext cx="3530547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Always available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5800" y="1988820"/>
            <a:ext cx="2364927" cy="35433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2376" y="2034540"/>
            <a:ext cx="2291775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faster-whisper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050727" y="1988820"/>
            <a:ext cx="4729854" cy="35433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3087303" y="2034540"/>
            <a:ext cx="4656702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Primary local ASR backend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780581" y="1988820"/>
            <a:ext cx="3603699" cy="35433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7817157" y="1984248"/>
            <a:ext cx="3652467" cy="33147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Lazy import + model cache on first use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5800" y="2343150"/>
            <a:ext cx="2364927" cy="35433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722376" y="2388870"/>
            <a:ext cx="2291775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openai-whisper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050727" y="2343150"/>
            <a:ext cx="4729854" cy="35433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3087303" y="2388870"/>
            <a:ext cx="4656702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Optional fallback backend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780581" y="2343150"/>
            <a:ext cx="3603699" cy="35433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7817157" y="2388870"/>
            <a:ext cx="3530547" cy="28117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1639" dirty="0">
                <a:solidFill>
                  <a:srgbClr val="F8FAFC"/>
                </a:solidFill>
              </a:rPr>
              <a:t>Lazy import only when selected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657600" y="3319272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666744" y="3749040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  <a:defRPr/>
            </a:pP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66744" y="3995928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  <a:defRPr/>
            </a:pP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355080" y="3319272"/>
            <a:ext cx="480060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88023" y="4175378"/>
            <a:ext cx="2322882" cy="26860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94121" y="4347972"/>
            <a:ext cx="2621279" cy="9966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  <a:defRPr/>
            </a:pP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 fundamentals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Translation maps meaning, not individual words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19528" y="1508760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4145280" y="1508760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5971032" y="1508760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96784" y="1508760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9622536" y="1508760"/>
            <a:ext cx="128016" cy="19202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261872"/>
            <a:ext cx="166116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713232" y="1380744"/>
            <a:ext cx="151485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Source text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5832" y="1261872"/>
            <a:ext cx="166116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2538984" y="1380744"/>
            <a:ext cx="151485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Tokenizer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subwords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1584" y="1261872"/>
            <a:ext cx="166116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4364736" y="1380744"/>
            <a:ext cx="151485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Encoder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Transformer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17336" y="1261872"/>
            <a:ext cx="1661160" cy="685800"/>
          </a:xfrm>
          <a:prstGeom prst="roundRect">
            <a:avLst>
              <a:gd name="adj" fmla="val 10667"/>
            </a:avLst>
          </a:prstGeom>
          <a:solidFill>
            <a:srgbClr val="FB923C"/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6190488" y="1380744"/>
            <a:ext cx="151485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Attention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943088" y="1261872"/>
            <a:ext cx="166116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Text 19"/>
          <p:cNvSpPr/>
          <p:nvPr/>
        </p:nvSpPr>
        <p:spPr>
          <a:xfrm>
            <a:off x="8016240" y="1380744"/>
            <a:ext cx="151485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Decoder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beam search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768840" y="1261872"/>
            <a:ext cx="1661160" cy="685800"/>
          </a:xfrm>
          <a:prstGeom prst="roundRect">
            <a:avLst>
              <a:gd name="adj" fmla="val 10667"/>
            </a:avLst>
          </a:prstGeom>
          <a:solidFill>
            <a:srgbClr val="34D399"/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9841992" y="1380744"/>
            <a:ext cx="1514856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Target text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246888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941832" y="2606040"/>
            <a:ext cx="31455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Core ideas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2944368"/>
            <a:ext cx="307238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subword tokenization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encoder-decoder architecture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attention over source context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autoregressive generation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beam search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24688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82312" y="2606040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Language tags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2944368"/>
            <a:ext cx="261518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hin_Deva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eng_Latn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source/target tags guide the model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01000" y="246888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Text 29"/>
          <p:cNvSpPr/>
          <p:nvPr/>
        </p:nvSpPr>
        <p:spPr>
          <a:xfrm>
            <a:off x="8165592" y="2606040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Hindi handling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02168" y="2944368"/>
            <a:ext cx="2798064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Devanagari Hindi ≠ Romanized Hindi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mislabeled English as Hindi is rejected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preprocessing must match model expectations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IndicTrans2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90525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Local Hindi-to-English translation with compatibility fixes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2440" y="1865376"/>
            <a:ext cx="3977640" cy="484632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9016" y="1920240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b="1" dirty="0">
                <a:solidFill>
                  <a:srgbClr val="22D3EE"/>
                </a:solidFill>
              </a:rPr>
              <a:t>Issue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450080" y="1865376"/>
            <a:ext cx="6629400" cy="484632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4486656" y="1920240"/>
            <a:ext cx="65562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b="1" dirty="0">
                <a:solidFill>
                  <a:srgbClr val="22D3EE"/>
                </a:solidFill>
              </a:rPr>
              <a:t>Fix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472440" y="2350008"/>
            <a:ext cx="3977640" cy="4846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509016" y="2395728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HF gated-model 401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450080" y="2350008"/>
            <a:ext cx="6629400" cy="4846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86656" y="2395728"/>
            <a:ext cx="65562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Accept terms + read token authentication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72440" y="2834640"/>
            <a:ext cx="3977640" cy="484632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509016" y="2880360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Transformers 5.x removed transformers.onnx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4450080" y="2834640"/>
            <a:ext cx="6629400" cy="484632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4486656" y="2880360"/>
            <a:ext cx="65562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Pin compatible 4.x path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72440" y="3319272"/>
            <a:ext cx="3977640" cy="4846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Text 34"/>
          <p:cNvSpPr/>
          <p:nvPr/>
        </p:nvSpPr>
        <p:spPr>
          <a:xfrm>
            <a:off x="509016" y="3364992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Tokenizer incompatibility with 4.32.1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4450080" y="3319272"/>
            <a:ext cx="6629400" cy="4846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4486656" y="3364992"/>
            <a:ext cx="65562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Use Transformers 4.51.3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472440" y="3803904"/>
            <a:ext cx="3977640" cy="484632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Text 38"/>
          <p:cNvSpPr/>
          <p:nvPr/>
        </p:nvSpPr>
        <p:spPr>
          <a:xfrm>
            <a:off x="509016" y="3849624"/>
            <a:ext cx="39044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IndicTransToolkit build failed on Windows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4450080" y="3803904"/>
            <a:ext cx="6629400" cy="484632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Text 40"/>
          <p:cNvSpPr/>
          <p:nvPr/>
        </p:nvSpPr>
        <p:spPr>
          <a:xfrm>
            <a:off x="4486656" y="3849624"/>
            <a:ext cx="65562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20" dirty="0">
                <a:solidFill>
                  <a:srgbClr val="F8FAFC"/>
                </a:solidFill>
              </a:rPr>
              <a:t>Pure-Python Hindi/English fallback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 modes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Three modes support development, same-language TTS and real translation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392667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76656" y="1563624"/>
            <a:ext cx="131951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b="1" dirty="0">
                <a:solidFill>
                  <a:srgbClr val="22D3EE"/>
                </a:solidFill>
              </a:rPr>
              <a:t>Mode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032747" y="1508760"/>
            <a:ext cx="2571078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2069323" y="1563624"/>
            <a:ext cx="249792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b="1" dirty="0">
                <a:solidFill>
                  <a:srgbClr val="22D3EE"/>
                </a:solidFill>
              </a:rPr>
              <a:t>Use case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603825" y="1508760"/>
            <a:ext cx="3749488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40401" y="1563624"/>
            <a:ext cx="36763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b="1" dirty="0">
                <a:solidFill>
                  <a:srgbClr val="22D3EE"/>
                </a:solidFill>
              </a:rPr>
              <a:t>Strength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8353313" y="1508760"/>
            <a:ext cx="3213847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89889" y="1563624"/>
            <a:ext cx="314069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b="1" dirty="0">
                <a:solidFill>
                  <a:srgbClr val="22D3EE"/>
                </a:solidFill>
              </a:rPr>
              <a:t>Constraint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40080" y="2057400"/>
            <a:ext cx="1392667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676656" y="2103120"/>
            <a:ext cx="131951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Identity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032747" y="2057400"/>
            <a:ext cx="257107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2069323" y="2103120"/>
            <a:ext cx="249792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hi-IN → hi-IN speech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603825" y="2057400"/>
            <a:ext cx="374948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40401" y="2103120"/>
            <a:ext cx="36763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Preserves text/timing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353313" y="2057400"/>
            <a:ext cx="3213847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8389889" y="2103120"/>
            <a:ext cx="314069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No semantic translation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40080" y="2606040"/>
            <a:ext cx="1392667" cy="54864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676656" y="2651760"/>
            <a:ext cx="131951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Stub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032747" y="2606040"/>
            <a:ext cx="2571078" cy="54864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2069323" y="2651760"/>
            <a:ext cx="249792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Development fallback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603825" y="2606040"/>
            <a:ext cx="3749488" cy="54864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40401" y="2651760"/>
            <a:ext cx="36763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Deterministic + glossary replacement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353313" y="2606040"/>
            <a:ext cx="3213847" cy="54864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8389889" y="2651760"/>
            <a:ext cx="314069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Not semantic translation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40080" y="3154680"/>
            <a:ext cx="1392667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676656" y="3200400"/>
            <a:ext cx="131951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IndicTrans2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032747" y="3154680"/>
            <a:ext cx="257107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2069323" y="3200400"/>
            <a:ext cx="249792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hi-IN → en-IN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603825" y="3154680"/>
            <a:ext cx="3749488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Text 34"/>
          <p:cNvSpPr/>
          <p:nvPr/>
        </p:nvSpPr>
        <p:spPr>
          <a:xfrm>
            <a:off x="4640401" y="3200400"/>
            <a:ext cx="367633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Real local Hindi-to-English translation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353313" y="3154680"/>
            <a:ext cx="3213847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389889" y="3200400"/>
            <a:ext cx="314069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1560" dirty="0">
                <a:solidFill>
                  <a:srgbClr val="F8FAFC"/>
                </a:solidFill>
              </a:rPr>
              <a:t>Needs access, weights, RAM, Devanagari input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051560" y="4343400"/>
            <a:ext cx="9784080" cy="868680"/>
          </a:xfrm>
          <a:prstGeom prst="roundRect">
            <a:avLst>
              <a:gd name="adj" fmla="val 8421"/>
            </a:avLst>
          </a:prstGeom>
          <a:solidFill>
            <a:srgbClr val="0E1A2F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Text 38"/>
          <p:cNvSpPr/>
          <p:nvPr/>
        </p:nvSpPr>
        <p:spPr>
          <a:xfrm>
            <a:off x="1234440" y="449884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Validation guardrail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11880" y="4507992"/>
            <a:ext cx="6903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F8FAFC"/>
                </a:solidFill>
              </a:rPr>
              <a:t>English text mislabeled as Hindi is rejected; Hindi IndicTrans2 input requires Devanagari.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TTS fundamentals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Text-to-speech turns normalized text into acoustic output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48102" y="1497787"/>
            <a:ext cx="128016" cy="20482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4802429" y="1497787"/>
            <a:ext cx="128016" cy="20482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6956755" y="1497787"/>
            <a:ext cx="128016" cy="20482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9111082" y="1497787"/>
            <a:ext cx="128016" cy="20482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989734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184343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Text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normalization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94406" y="1234440"/>
            <a:ext cx="1989734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2867558" y="1353312"/>
            <a:ext cx="184343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Grapheme/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phoneme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48733" y="1234440"/>
            <a:ext cx="1989734" cy="731520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1885" y="1353312"/>
            <a:ext cx="184343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Duration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+ pitch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03059" y="1234440"/>
            <a:ext cx="1989734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172033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76211" y="1353312"/>
            <a:ext cx="184343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Acoustic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model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257386" y="1234440"/>
            <a:ext cx="1989734" cy="73152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9330538" y="1353312"/>
            <a:ext cx="184343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Waveform</a:t>
            </a:r>
            <a:endParaRPr lang="en-US" sz="85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F8FAFC"/>
                </a:solidFill>
              </a:rPr>
              <a:t>generation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242316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" y="256032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Formant synthesis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2898648"/>
            <a:ext cx="284378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Rule-based/parametric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Small and CPU-friendly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Robotic but predictable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242316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99432" y="256032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Neural TTS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36008" y="2898648"/>
            <a:ext cx="284378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Voice models generate more natural speech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Quality depends on voice data and vocoder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May require larger models/resources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92440" y="242316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8257032" y="256032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Quality drivers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93608" y="2898648"/>
            <a:ext cx="284378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pronunciation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prosody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voice model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text normalization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language-specific phonetics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TTS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Safe local synthesis with eSpeak-NG and extensible Piper adapter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224726" cy="37719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722376" y="1289304"/>
            <a:ext cx="2151574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22D3EE"/>
                </a:solidFill>
              </a:rPr>
              <a:t>Backend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10526" y="1234440"/>
            <a:ext cx="4115743" cy="37719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2947102" y="1289304"/>
            <a:ext cx="4042591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22D3EE"/>
                </a:solidFill>
              </a:rPr>
              <a:t>Implemented role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026268" y="1234440"/>
            <a:ext cx="4449452" cy="37719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62844" y="1289304"/>
            <a:ext cx="4376300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22D3EE"/>
                </a:solidFill>
              </a:rPr>
              <a:t>Notes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1611630"/>
            <a:ext cx="2224726" cy="37719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722376" y="1657350"/>
            <a:ext cx="2151574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StubTTSAdapter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10526" y="1611630"/>
            <a:ext cx="4115743" cy="37719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2947102" y="1657350"/>
            <a:ext cx="4042591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Creates placeholder artifact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26268" y="1611630"/>
            <a:ext cx="4449452" cy="37719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7062844" y="1657350"/>
            <a:ext cx="4376300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Always available for tests/demo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1988820"/>
            <a:ext cx="2224726" cy="37719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2376" y="2034540"/>
            <a:ext cx="2151574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eSpeak-NG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10526" y="1988820"/>
            <a:ext cx="4115743" cy="37719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2947102" y="2034540"/>
            <a:ext cx="4042591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Working local CPU backend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026268" y="1988820"/>
            <a:ext cx="4449452" cy="37719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7062844" y="2034540"/>
            <a:ext cx="4376300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English voice + native Hindi voice path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2366010"/>
            <a:ext cx="2224726" cy="37719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722376" y="2411730"/>
            <a:ext cx="2151574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Piper adapter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10526" y="2366010"/>
            <a:ext cx="4115743" cy="37719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2947102" y="2411730"/>
            <a:ext cx="4042591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Future/local neural backend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26268" y="2366010"/>
            <a:ext cx="4449452" cy="37719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7062844" y="2411730"/>
            <a:ext cx="4376300" cy="30403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F8FAFC"/>
                </a:solidFill>
              </a:rPr>
              <a:t>Requires executable + ONNX voice model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" y="3246120"/>
            <a:ext cx="3566160" cy="2450592"/>
          </a:xfrm>
          <a:prstGeom prst="roundRect">
            <a:avLst>
              <a:gd name="adj" fmla="val 390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" y="3191256"/>
            <a:ext cx="383133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Safety + measurement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" y="3721608"/>
            <a:ext cx="316382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subprocess uses argument lists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never shell=True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generated WAV duration measured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sample rate measured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246120"/>
            <a:ext cx="3566160" cy="2178558"/>
          </a:xfrm>
          <a:prstGeom prst="roundRect">
            <a:avLst>
              <a:gd name="adj" fmla="val 390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Text 33"/>
          <p:cNvSpPr/>
          <p:nvPr/>
        </p:nvSpPr>
        <p:spPr>
          <a:xfrm>
            <a:off x="4736592" y="3383280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Hindi Windows fix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3721608"/>
            <a:ext cx="316382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Hindi voice did not synthesize Devanagari directly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Devanagari converted to phonetic ITRANS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Stored translation remains Devanagari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66760" y="324612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531352" y="3383280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Tradeoff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67928" y="3721608"/>
            <a:ext cx="234086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eSpeak is reliable and light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voice quality is robotic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Piper can improve naturalness later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 UI and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Local /live workflow and API surface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0E1A2F"/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b="1" dirty="0">
                <a:solidFill>
                  <a:srgbClr val="22D3EE"/>
                </a:solidFill>
              </a:rPr>
              <a:t>/live UI mockup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7373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1024128" y="18470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dirty="0">
                <a:solidFill>
                  <a:srgbClr val="F8FAFC"/>
                </a:solidFill>
              </a:rPr>
              <a:t>Source: hi-IN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26080" y="17373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3035808" y="18470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dirty="0">
                <a:solidFill>
                  <a:srgbClr val="F8FAFC"/>
                </a:solidFill>
              </a:rPr>
              <a:t>Target: en-IN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14400" y="23317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नमस्ते, आज हम डबिंग का परीक्षण कर रहे हैं।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B923C">
              <a:alpha val="90000"/>
            </a:srgbClr>
          </a:solidFill>
          <a:ln w="12700">
            <a:solidFill>
              <a:srgbClr val="FB923C">
                <a:alpha val="7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987552" y="3547872"/>
            <a:ext cx="9509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8FAFC"/>
                </a:solidFill>
              </a:rPr>
              <a:t>Start mic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48840" y="347472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2221992" y="3547872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8FAFC"/>
                </a:solidFill>
              </a:rPr>
              <a:t>Upload audio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11880" y="34747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85032" y="3547872"/>
            <a:ext cx="7680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8FAFC"/>
                </a:solidFill>
              </a:rPr>
              <a:t>Run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14400" y="40690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4279392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dirty="0">
                <a:solidFill>
                  <a:srgbClr val="CBD5E1"/>
                </a:solidFill>
              </a:rPr>
              <a:t>Audio player + JSON result viewer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1188720"/>
            <a:ext cx="2560320" cy="49276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6208776" y="1243584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b="1" dirty="0">
                <a:solidFill>
                  <a:srgbClr val="22D3EE"/>
                </a:solidFill>
              </a:rPr>
              <a:t>Endpoint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8732520" y="1188720"/>
            <a:ext cx="2743200" cy="49276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8769096" y="1243584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b="1" dirty="0">
                <a:solidFill>
                  <a:srgbClr val="22D3EE"/>
                </a:solidFill>
              </a:rPr>
              <a:t>Purpose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6172200" y="1681480"/>
            <a:ext cx="256032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6208776" y="172720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GET /health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8732520" y="1681480"/>
            <a:ext cx="274320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8769096" y="172720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service status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6172200" y="2174240"/>
            <a:ext cx="256032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6208776" y="221996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GET /backends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8732520" y="2174240"/>
            <a:ext cx="274320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8769096" y="221996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backend availability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6172200" y="2667000"/>
            <a:ext cx="256032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Text 34"/>
          <p:cNvSpPr/>
          <p:nvPr/>
        </p:nvSpPr>
        <p:spPr>
          <a:xfrm>
            <a:off x="6208776" y="271272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POST /evaluate/transcript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8732520" y="2667000"/>
            <a:ext cx="274320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769096" y="271272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WER/CER metrics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6172200" y="3159760"/>
            <a:ext cx="256032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Text 38"/>
          <p:cNvSpPr/>
          <p:nvPr/>
        </p:nvSpPr>
        <p:spPr>
          <a:xfrm>
            <a:off x="6208776" y="320548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POST /dubbing/jobs/run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8732520" y="3159760"/>
            <a:ext cx="274320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Text 40"/>
          <p:cNvSpPr/>
          <p:nvPr/>
        </p:nvSpPr>
        <p:spPr>
          <a:xfrm>
            <a:off x="8769096" y="320548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full pipeline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6172200" y="3652520"/>
            <a:ext cx="256032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" name="Text 42"/>
          <p:cNvSpPr/>
          <p:nvPr/>
        </p:nvSpPr>
        <p:spPr>
          <a:xfrm>
            <a:off x="6208776" y="369824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POST /dubbing/jobs/text</a:t>
            </a:r>
            <a:endParaRPr lang="en-US" sz="630" dirty="0"/>
          </a:p>
        </p:txBody>
      </p:sp>
      <p:sp>
        <p:nvSpPr>
          <p:cNvPr id="45" name="Shape 43"/>
          <p:cNvSpPr/>
          <p:nvPr/>
        </p:nvSpPr>
        <p:spPr>
          <a:xfrm>
            <a:off x="8732520" y="3652520"/>
            <a:ext cx="274320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" name="Text 44"/>
          <p:cNvSpPr/>
          <p:nvPr/>
        </p:nvSpPr>
        <p:spPr>
          <a:xfrm>
            <a:off x="8769096" y="369824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text workflow</a:t>
            </a:r>
            <a:endParaRPr lang="en-US" sz="630" dirty="0"/>
          </a:p>
        </p:txBody>
      </p:sp>
      <p:sp>
        <p:nvSpPr>
          <p:cNvPr id="47" name="Shape 45"/>
          <p:cNvSpPr/>
          <p:nvPr/>
        </p:nvSpPr>
        <p:spPr>
          <a:xfrm>
            <a:off x="6172200" y="4145280"/>
            <a:ext cx="256032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" name="Text 46"/>
          <p:cNvSpPr/>
          <p:nvPr/>
        </p:nvSpPr>
        <p:spPr>
          <a:xfrm>
            <a:off x="6208776" y="419100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POST /dubbing/jobs/upload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8732520" y="4145280"/>
            <a:ext cx="274320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" name="Text 48"/>
          <p:cNvSpPr/>
          <p:nvPr/>
        </p:nvSpPr>
        <p:spPr>
          <a:xfrm>
            <a:off x="8769096" y="419100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file workflow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6172200" y="4638040"/>
            <a:ext cx="256032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" name="Text 50"/>
          <p:cNvSpPr/>
          <p:nvPr/>
        </p:nvSpPr>
        <p:spPr>
          <a:xfrm>
            <a:off x="6208776" y="468376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GET /dubbing/jobs/{id}/audio</a:t>
            </a:r>
            <a:endParaRPr lang="en-US" sz="630" dirty="0"/>
          </a:p>
        </p:txBody>
      </p:sp>
      <p:sp>
        <p:nvSpPr>
          <p:cNvPr id="53" name="Shape 51"/>
          <p:cNvSpPr/>
          <p:nvPr/>
        </p:nvSpPr>
        <p:spPr>
          <a:xfrm>
            <a:off x="8732520" y="4638040"/>
            <a:ext cx="2743200" cy="492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" name="Text 52"/>
          <p:cNvSpPr/>
          <p:nvPr/>
        </p:nvSpPr>
        <p:spPr>
          <a:xfrm>
            <a:off x="8769096" y="468376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browser audio playback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6172200" y="5130800"/>
            <a:ext cx="256032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" name="Text 54"/>
          <p:cNvSpPr/>
          <p:nvPr/>
        </p:nvSpPr>
        <p:spPr>
          <a:xfrm>
            <a:off x="6208776" y="5176520"/>
            <a:ext cx="248716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GET /live</a:t>
            </a:r>
            <a:endParaRPr lang="en-US" sz="630" dirty="0"/>
          </a:p>
        </p:txBody>
      </p:sp>
      <p:sp>
        <p:nvSpPr>
          <p:cNvPr id="57" name="Shape 55"/>
          <p:cNvSpPr/>
          <p:nvPr/>
        </p:nvSpPr>
        <p:spPr>
          <a:xfrm>
            <a:off x="8732520" y="5130800"/>
            <a:ext cx="2743200" cy="4927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" name="Text 56"/>
          <p:cNvSpPr/>
          <p:nvPr/>
        </p:nvSpPr>
        <p:spPr>
          <a:xfrm>
            <a:off x="8769096" y="5176520"/>
            <a:ext cx="2670048" cy="419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60" dirty="0">
                <a:solidFill>
                  <a:srgbClr val="F8FAFC"/>
                </a:solidFill>
              </a:rPr>
              <a:t>local browser UI</a:t>
            </a:r>
            <a:endParaRPr lang="en-US" sz="630" dirty="0"/>
          </a:p>
        </p:txBody>
      </p:sp>
      <p:sp>
        <p:nvSpPr>
          <p:cNvPr id="59" name="Text 57"/>
          <p:cNvSpPr/>
          <p:nvPr/>
        </p:nvSpPr>
        <p:spPr>
          <a:xfrm>
            <a:off x="6263640" y="5742432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dirty="0">
                <a:solidFill>
                  <a:srgbClr val="FB923C"/>
                </a:solidFill>
              </a:rPr>
              <a:t>HTTP 206 Partial Content is normal for browser audio range streaming.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and 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PowerShell-safe execution and backend discovery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10927080" cy="2148840"/>
          </a:xfrm>
          <a:prstGeom prst="roundRect">
            <a:avLst>
              <a:gd name="adj" fmla="val 3404"/>
            </a:avLst>
          </a:prstGeom>
          <a:solidFill>
            <a:srgbClr val="020617"/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1481328"/>
            <a:ext cx="10497312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dubbing_pipeline.cli run \</a:t>
            </a:r>
            <a:endParaRPr lang="en-US" sz="1000" dirty="0"/>
          </a:p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--source-text "नमस्ते, आज हम डबिंग का परीक्षण कर रहे हैं।" \</a:t>
            </a:r>
            <a:endParaRPr lang="en-US" sz="1000" dirty="0"/>
          </a:p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--source-language hi-IN \</a:t>
            </a:r>
            <a:endParaRPr lang="en-US" sz="1000" dirty="0"/>
          </a:p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--target-language en-IN \</a:t>
            </a:r>
            <a:endParaRPr lang="en-US" sz="1000" dirty="0"/>
          </a:p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--translation-backend indictrans2 \</a:t>
            </a:r>
            <a:endParaRPr lang="en-US" sz="1000" dirty="0"/>
          </a:p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--tts-backend espeak \</a:t>
            </a:r>
            <a:endParaRPr lang="en-US" sz="1000" dirty="0"/>
          </a:p>
          <a:p>
            <a:pPr marL="0" indent="0">
              <a:buNone/>
              <a:defRPr/>
            </a:pPr>
            <a:r>
              <a:rPr lang="en-US" sz="20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--device cpu --compute-type int8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987552" y="3931920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CLI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4270248"/>
            <a:ext cx="288950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backend discovery command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Windows PowerShell scripts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virtual-env executable can run without activation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3630168"/>
            <a:ext cx="3291840" cy="2441448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99432" y="3931920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Execution-policy-safe workflow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6008" y="4270248"/>
            <a:ext cx="288950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call .venv\Scripts\python.exe directly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avoid blocked activation scripts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explicit output directory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0" y="379476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11312" y="3931920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Config flags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47888" y="4270248"/>
            <a:ext cx="252374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backend choices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model size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device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compute 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2288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Failures encountered and engineering fixes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Dependency and platform debugging made the project stronger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4620670" cy="54356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30936" y="1289304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rgbClr val="22D3EE"/>
                </a:solidFill>
              </a:rPr>
              <a:t>Failure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215030" y="1234440"/>
            <a:ext cx="6397850" cy="54356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5251606" y="1289304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rgbClr val="22D3EE"/>
                </a:solidFill>
              </a:rPr>
              <a:t>Engineering fix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94360" y="1778000"/>
            <a:ext cx="462067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" y="182372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PowerShell execution blocked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215030" y="1778000"/>
            <a:ext cx="639785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5251606" y="182372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Call .venv\Scripts\python.exe directly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94360" y="2321560"/>
            <a:ext cx="462067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630936" y="236728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HF 401 gated-model error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215030" y="2321560"/>
            <a:ext cx="639785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5251606" y="236728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Accept terms + authenticate with read token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94360" y="2865120"/>
            <a:ext cx="462067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" y="291084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transformers.onnx missing in 5.x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215030" y="2865120"/>
            <a:ext cx="639785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5251606" y="291084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Pin compatible Transformers 4.x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94360" y="3408680"/>
            <a:ext cx="462067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630936" y="345440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Tokenizer incompatibility in 4.32.1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215030" y="3408680"/>
            <a:ext cx="639785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5251606" y="345440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Use Transformers 4.51.3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94360" y="3952240"/>
            <a:ext cx="462067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630936" y="399796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IndicTransToolkit Windows build failed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215030" y="3952240"/>
            <a:ext cx="639785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5251606" y="399796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Optional path + pure-Python fallback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94360" y="4495800"/>
            <a:ext cx="462067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630936" y="454152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English mislabeled as Hindi passed through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215030" y="4495800"/>
            <a:ext cx="639785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5251606" y="454152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Require Devanagari input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94360" y="5039360"/>
            <a:ext cx="462067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Text 34"/>
          <p:cNvSpPr/>
          <p:nvPr/>
        </p:nvSpPr>
        <p:spPr>
          <a:xfrm>
            <a:off x="630936" y="508508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Hindi eSpeak near-silent audio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215030" y="5039360"/>
            <a:ext cx="6397850" cy="543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5251606" y="508508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Devanagari → ITRANS conversion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94360" y="5582920"/>
            <a:ext cx="462067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Text 38"/>
          <p:cNvSpPr/>
          <p:nvPr/>
        </p:nvSpPr>
        <p:spPr>
          <a:xfrm>
            <a:off x="630936" y="5628640"/>
            <a:ext cx="454751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Windows console failed printing Hindi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215030" y="5582920"/>
            <a:ext cx="6397850" cy="543560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Text 40"/>
          <p:cNvSpPr/>
          <p:nvPr/>
        </p:nvSpPr>
        <p:spPr>
          <a:xfrm>
            <a:off x="5251606" y="5628640"/>
            <a:ext cx="6324698" cy="470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F8FAFC"/>
                </a:solidFill>
              </a:rPr>
              <a:t>Configure CLI stdout as UTF-8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19" y="301752"/>
            <a:ext cx="11688775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quality and reliability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Production-minded safeguards in a prototype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50392" y="1371600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Code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709928"/>
            <a:ext cx="279806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abstract adapter interfaces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lazy optional imports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Pydantic schemas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deterministic stubs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12344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416552" y="1371600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Runtime safety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53128" y="1709928"/>
            <a:ext cx="279806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friendly missing-dependency errors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safe subprocess arguments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path and file-type validation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JSON artifact persistence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18120" y="12344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82712" y="1371600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34D399"/>
                </a:solidFill>
              </a:rPr>
              <a:t>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19288" y="1709928"/>
            <a:ext cx="279806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unit tests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pipeline tests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API tests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configuration tests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failure-path tests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393192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0E1A2F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43000" y="4224528"/>
            <a:ext cx="9418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 dirty="0">
                <a:solidFill>
                  <a:srgbClr val="F8FAFC"/>
                </a:solidFill>
              </a:rPr>
              <a:t>Docker defaults to stub mode and downloads no heavy models.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Explicitly separating what works from what is future 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50392" y="137160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87171"/>
                </a:solidFill>
              </a:rPr>
              <a:t>Not implemented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709928"/>
            <a:ext cx="2843784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continuous streaming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speaker cloning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voice preservation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lip synchronization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speaker diarization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462272" y="137160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Quality limitations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98848" y="1709928"/>
            <a:ext cx="2843784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eSpeak voice is robotic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translation needs broader human evaluation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TTS naturalness not measured by WER/CER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09560" y="123444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74152" y="1371600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System limitations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0728" y="1709928"/>
            <a:ext cx="2843784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CPU one request at a time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models not yet in long-lived registry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no auth/queue/rate limiting/object storage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IndicTrans2 currently Hindi/Indic → English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1560" y="461772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0E1A2F"/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34440" y="4809744"/>
            <a:ext cx="9326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100" b="1" dirty="0">
                <a:solidFill>
                  <a:srgbClr val="F8FAFC"/>
                </a:solidFill>
              </a:rPr>
              <a:t>Implemented baseline: push-to-talk / local file processing, not continuous low-latency production streaming.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Improvement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32104"/>
            <a:ext cx="9875520" cy="3423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From local prototype to production-grade system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825931" cy="587829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722376" y="1289304"/>
            <a:ext cx="2752779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b="1" dirty="0">
                <a:solidFill>
                  <a:srgbClr val="22D3EE"/>
                </a:solidFill>
              </a:rPr>
              <a:t>Roadmap area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3511731" y="1234440"/>
            <a:ext cx="7963989" cy="587829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3548307" y="1289304"/>
            <a:ext cx="7890837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b="1" dirty="0">
                <a:solidFill>
                  <a:srgbClr val="22D3EE"/>
                </a:solidFill>
              </a:rPr>
              <a:t>Next improvements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85800" y="1822269"/>
            <a:ext cx="2825931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22376" y="1867989"/>
            <a:ext cx="2752779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TTS quality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511731" y="1822269"/>
            <a:ext cx="7963989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48307" y="1867989"/>
            <a:ext cx="7890837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Add Piper Hindi neural ONNX voice; MOS/intelligibility testing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85800" y="2410097"/>
            <a:ext cx="2825931" cy="58782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722376" y="2455817"/>
            <a:ext cx="2752779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Performance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511731" y="2410097"/>
            <a:ext cx="7963989" cy="58782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3548307" y="2455817"/>
            <a:ext cx="7890837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Cache model instances, warm-up, ONNX/OpenVINO quantization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85800" y="2997926"/>
            <a:ext cx="2825931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2376" y="3043646"/>
            <a:ext cx="2752779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Streaming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3511731" y="2997926"/>
            <a:ext cx="7963989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3548307" y="3043646"/>
            <a:ext cx="7890837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VAD, incremental ASR, incremental translation, streaming TTS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85800" y="3585754"/>
            <a:ext cx="2825931" cy="58782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722376" y="3631474"/>
            <a:ext cx="2752779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Media quality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3511731" y="3585754"/>
            <a:ext cx="7963989" cy="58782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3548307" y="3631474"/>
            <a:ext cx="7890837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duration alignment, speaker diarization, voice assignment, lip-sync support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85800" y="4173583"/>
            <a:ext cx="2825931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722376" y="4219303"/>
            <a:ext cx="2752779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Evaluation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511731" y="4173583"/>
            <a:ext cx="7963989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Text 28"/>
          <p:cNvSpPr/>
          <p:nvPr/>
        </p:nvSpPr>
        <p:spPr>
          <a:xfrm>
            <a:off x="3548307" y="4219303"/>
            <a:ext cx="7890837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BLEU, chrF, COMET, human review, TTS quality metrics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85800" y="4761411"/>
            <a:ext cx="2825931" cy="58782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722376" y="4807131"/>
            <a:ext cx="2752779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Production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3511731" y="4761411"/>
            <a:ext cx="7963989" cy="587829"/>
          </a:xfrm>
          <a:prstGeom prst="rect">
            <a:avLst/>
          </a:prstGeom>
          <a:solidFill>
            <a:srgbClr val="0E1528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3548307" y="4807131"/>
            <a:ext cx="7890837" cy="51467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80" dirty="0">
                <a:solidFill>
                  <a:srgbClr val="F8FAFC"/>
                </a:solidFill>
              </a:rPr>
              <a:t>job queue, object storage, monitoring, authentication, GPU option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98755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5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role mapping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sz="2100" dirty="0">
                <a:solidFill>
                  <a:srgbClr val="CBD5E1"/>
                </a:solidFill>
              </a:rPr>
              <a:t>What this project demonstrates to an AI-first team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505895" y="228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0400" y="1188720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50392" y="1157224"/>
            <a:ext cx="3807968" cy="4338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22D3EE"/>
                </a:solidFill>
              </a:rPr>
              <a:t>Demonstrated capability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709928"/>
            <a:ext cx="2935224" cy="2093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end-to-end ML system design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local model integration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multilingual preprocessing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evaluation and latency reporting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API + UI delivery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9432" y="1371600"/>
            <a:ext cx="30083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B923C"/>
                </a:solidFill>
              </a:rPr>
              <a:t>Engineering signal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6008" y="1709928"/>
            <a:ext cx="2935224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dependency debugging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CPU tradeoff awareness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tests and Docker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fallback design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F8FAFC"/>
                </a:solidFill>
              </a:rPr>
              <a:t>• clear limitations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48472" y="1371600"/>
            <a:ext cx="30083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  <a:defRPr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5048" y="1709928"/>
            <a:ext cx="2935224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  <a:defRPr/>
            </a:pP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07008" y="4420616"/>
            <a:ext cx="10149840" cy="1371600"/>
          </a:xfrm>
          <a:prstGeom prst="roundRect">
            <a:avLst>
              <a:gd name="adj" fmla="val 8889"/>
            </a:avLst>
          </a:prstGeom>
          <a:solidFill>
            <a:srgbClr val="0E1A2F"/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34440" y="4535424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300" b="1" dirty="0">
                <a:solidFill>
                  <a:srgbClr val="F8FAFC"/>
                </a:solidFill>
              </a:rPr>
              <a:t>Working baseline: Hindi text/audio → English translation → local speech, plus Hindi text → Hindi audio, entirely with open-source local components.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5562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Open-source Indic Speech Dubbing Pipeline  •  local CPU-first prototype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9326880" y="65562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dirty="0">
                <a:solidFill>
                  <a:srgbClr val="6B7280"/>
                </a:solidFill>
              </a:rPr>
              <a:t>Implemented vs future work clearly separated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3635</Words>
  <Application>Microsoft Office PowerPoint</Application>
  <PresentationFormat>Widescreen</PresentationFormat>
  <Paragraphs>471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Open-Source Indic Speech Dubbing Pipeline</dc:title>
  <dc:subject>Open-source Indic speech dubbing pipeline technical presentation</dc:subject>
  <dc:creator>OpenAI</dc:creator>
  <cp:lastModifiedBy>Peddareddygari Praneeth Reddy</cp:lastModifiedBy>
  <cp:revision>4</cp:revision>
  <dcterms:created xsi:type="dcterms:W3CDTF">2026-07-06T18:43:28Z</dcterms:created>
  <dcterms:modified xsi:type="dcterms:W3CDTF">2026-07-07T13:18:46Z</dcterms:modified>
</cp:coreProperties>
</file>